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respected examiners and faculty members. My name is Rukshana Roshan, Registration Number E2410132. Today, I am proud to present my final software engineering project for course module ITE2953: TravelMate – Smart Tourist Day-Visit Planner. Over the next five slides, I will provide a quick, comprehensive overview of our problem domain, layered system architecture, nearest-neighbour optimization algorithm, database design, and automated testing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 we highlight the core problem domain and objectives. Travelers visiting the Atulugama and Kalutara region frequently suffer from fragmented information—incorrect entrance fees, unverified opening hours, and unrealistic day schedules that don't account for local traffic or stay durations. TravelMate resolves this by anchoring an accurate 25km geographic catalog around Atulugama, providing a deterministic nearest-neighbour itinerary planner that constructs a realistic, timed schedule, and offering local tourism administrators a dedicated portal to maintain verified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showcases our technical implementation and architecture. The solution implements a clean four-tier layered architecture. Controllers are lightweight and map HTTP requests to services, wrapping responses in an ApiResponse envelope. DTOs completely isolate database entities so database schemas are never exposed across the network. Security is enforced through BCrypt password hashing. The persistence layer utilizes MySQL 8 in production and an in-memory H2 database for our automated test suite.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details our system functionality and itinerary algorithm. Rather than relying on an opaque, non-deterministic black box, we designed a deterministic nearest-neighbour routing algorithm tailored to local conditions. The algorithm anchors the trip at Atulugama, applies a 1.25 road-winding factor to the Haversine distance, applies realistic vehicle speeds (35 km/h for cars), builds a minute-by-minute chronological timeline, inserts a lunch break between 12:30 and 1:30 PM, and flags any stops that exceed the requested finish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4, we examine our software engineering and architectural choices. Our database schema consists of seven normalized tables designed in 3rd Normal Form with cascading foreign key integrity. Key engineering choices include using a deterministic algorithm for predictable tour plans, choosing standard Java POJOs over Lombok to ensure seamless cross-platform compilation on examiners' machines, implementing strict DTO encapsulation to avoid security over-posting, and dual-layer data resilience so the application remains robust.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on Slide 5, we present our testing verification and deliverables. All 38 automated test cases in our test suite execute with zero errors and zero failures, covering all 20 university test cases. The project is fully realized and packaged into our submission folder, complete with the developed system, StarUML design models, presentation slides, demonstration script, and test report. Thank you for your time, and I welcome any questions regarding the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B5D"/>
        </a:solidFill>
        <a:effectLst/>
      </p:bgPr>
    </p:bg>
    <p:spTree>
      <p:nvGrpSpPr>
        <p:cNvPr id="1" name=""/>
        <p:cNvGrpSpPr/>
        <p:nvPr/>
      </p:nvGrpSpPr>
      <p:grpSpPr/>
      <p:sp>
        <p:nvSpPr>
          <p:cNvPr id="2" name="Right Triangle 1"/>
          <p:cNvSpPr/>
          <p:nvPr/>
        </p:nvSpPr>
        <p:spPr>
          <a:xfrm>
            <a:off x="9601200" y="0"/>
            <a:ext cx="2590495" cy="6858000"/>
          </a:xfrm>
          <a:prstGeom prst="rtTriangle">
            <a:avLst/>
          </a:prstGeom>
          <a:solidFill>
            <a:srgbClr val="0F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3291840" cy="365760"/>
          </a:xfrm>
          <a:prstGeom prst="roundRect">
            <a:avLst/>
          </a:prstGeom>
          <a:solidFill>
            <a:srgbClr val="13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23B5D"/>
                </a:solidFill>
              </a:defRPr>
            </a:pPr>
            <a:r>
              <a:t>ITE2953 SOFTWARE PROJECT • FINAL DEFENSE</a:t>
            </a:r>
          </a:p>
        </p:txBody>
      </p:sp>
      <p:sp>
        <p:nvSpPr>
          <p:cNvPr id="4" name="TextBox 3"/>
          <p:cNvSpPr txBox="1"/>
          <p:nvPr/>
        </p:nvSpPr>
        <p:spPr>
          <a:xfrm>
            <a:off x="914400" y="1645920"/>
            <a:ext cx="8686800" cy="2194560"/>
          </a:xfrm>
          <a:prstGeom prst="rect">
            <a:avLst/>
          </a:prstGeom>
          <a:noFill/>
        </p:spPr>
        <p:txBody>
          <a:bodyPr wrap="square">
            <a:spAutoFit/>
          </a:bodyPr>
          <a:lstStyle/>
          <a:p>
            <a:pPr>
              <a:defRPr sz="4800" b="1">
                <a:solidFill>
                  <a:srgbClr val="FFFFFF"/>
                </a:solidFill>
              </a:defRPr>
            </a:pPr>
            <a:r>
              <a:t>TravelMate</a:t>
            </a:r>
          </a:p>
          <a:p>
            <a:pPr>
              <a:defRPr sz="3000" b="1">
                <a:solidFill>
                  <a:srgbClr val="F59E42"/>
                </a:solidFill>
              </a:defRPr>
            </a:pPr>
            <a:r>
              <a:t>Smart Tourist Day-Visit Planner</a:t>
            </a:r>
          </a:p>
          <a:p>
            <a:pPr>
              <a:defRPr sz="1400">
                <a:solidFill>
                  <a:srgbClr val="CBD5E1"/>
                </a:solidFill>
              </a:defRPr>
            </a:pPr>
            <a:r>
              <a:t>An Enterprise Full-Stack Web Solution for Tailored Day-Trip Exploration and Optimized Itinerary Generation (25km Radius from Atulugama, Sri Lanka)</a:t>
            </a:r>
          </a:p>
        </p:txBody>
      </p:sp>
      <p:sp>
        <p:nvSpPr>
          <p:cNvPr id="5" name="Rounded Rectangle 4"/>
          <p:cNvSpPr/>
          <p:nvPr/>
        </p:nvSpPr>
        <p:spPr>
          <a:xfrm>
            <a:off x="914400" y="4114800"/>
            <a:ext cx="7772400" cy="2011680"/>
          </a:xfrm>
          <a:prstGeom prst="roundRect">
            <a:avLst/>
          </a:prstGeom>
          <a:solidFill>
            <a:srgbClr val="184B73"/>
          </a:solidFill>
          <a:ln>
            <a:solidFill>
              <a:srgbClr val="13B8A6"/>
            </a:solidFill>
          </a:ln>
        </p:spPr>
        <p:style>
          <a:lnRef idx="1">
            <a:schemeClr val="accent1"/>
          </a:lnRef>
          <a:fillRef idx="3">
            <a:schemeClr val="accent1"/>
          </a:fillRef>
          <a:effectRef idx="2">
            <a:schemeClr val="accent1"/>
          </a:effectRef>
          <a:fontRef idx="minor">
            <a:schemeClr val="lt1"/>
          </a:fontRef>
        </p:style>
        <p:txBody>
          <a:bodyPr rtlCol="0" anchor="ctr" lIns="274320" tIns="228600"/>
          <a:lstStyle/>
          <a:p>
            <a:pPr algn="ctr">
              <a:defRPr sz="1100" b="1">
                <a:solidFill>
                  <a:srgbClr val="13B8A6"/>
                </a:solidFill>
              </a:defRPr>
            </a:pPr>
            <a:r>
              <a:t>PROJECT METADATA &amp; CANDIDATE DETAILS</a:t>
            </a:r>
          </a:p>
          <a:p>
            <a:r>
              <a:rPr b="1" sz="1100">
                <a:solidFill>
                  <a:srgbClr val="FFFFFF"/>
                </a:solidFill>
              </a:rPr>
              <a:t>•  Candidate Name: </a:t>
            </a:r>
            <a:r>
              <a:rPr sz="1100">
                <a:solidFill>
                  <a:srgbClr val="E2E8F0"/>
                </a:solidFill>
              </a:rPr>
              <a:t>Rukshana Roshan</a:t>
            </a:r>
          </a:p>
          <a:p>
            <a:r>
              <a:rPr b="1" sz="1100">
                <a:solidFill>
                  <a:srgbClr val="FFFFFF"/>
                </a:solidFill>
              </a:rPr>
              <a:t>•  Registration Number: </a:t>
            </a:r>
            <a:r>
              <a:rPr sz="1100">
                <a:solidFill>
                  <a:srgbClr val="E2E8F0"/>
                </a:solidFill>
              </a:rPr>
              <a:t>E2410132</a:t>
            </a:r>
          </a:p>
          <a:p>
            <a:r>
              <a:rPr b="1" sz="1100">
                <a:solidFill>
                  <a:srgbClr val="FFFFFF"/>
                </a:solidFill>
              </a:rPr>
              <a:t>•  Degree Programme: </a:t>
            </a:r>
            <a:r>
              <a:rPr sz="1100">
                <a:solidFill>
                  <a:srgbClr val="E2E8F0"/>
                </a:solidFill>
              </a:rPr>
              <a:t>B.Sc. (Hons) in Information Technology</a:t>
            </a:r>
          </a:p>
          <a:p>
            <a:r>
              <a:rPr b="1" sz="1100">
                <a:solidFill>
                  <a:srgbClr val="FFFFFF"/>
                </a:solidFill>
              </a:rPr>
              <a:t>•  Academic Institution: </a:t>
            </a:r>
            <a:r>
              <a:rPr sz="1100">
                <a:solidFill>
                  <a:srgbClr val="E2E8F0"/>
                </a:solidFill>
              </a:rPr>
              <a:t>University of Moratuwa, Sri Lanka</a:t>
            </a:r>
          </a:p>
          <a:p>
            <a:r>
              <a:rPr b="1" sz="1100">
                <a:solidFill>
                  <a:srgbClr val="FFFFFF"/>
                </a:solidFill>
              </a:rPr>
              <a:t>•  Course Module: </a:t>
            </a:r>
            <a:r>
              <a:rPr sz="1100">
                <a:solidFill>
                  <a:srgbClr val="E2E8F0"/>
                </a:solidFill>
              </a:rPr>
              <a:t>ITE2953 – Software Project (Weightage: 60% Final Mark)</a:t>
            </a:r>
          </a:p>
          <a:p>
            <a:r>
              <a:rPr b="1" sz="1100">
                <a:solidFill>
                  <a:srgbClr val="FFFFFF"/>
                </a:solidFill>
              </a:rPr>
              <a:t>•  Technology Stack: </a:t>
            </a:r>
            <a:r>
              <a:rPr sz="1100">
                <a:solidFill>
                  <a:srgbClr val="E2E8F0"/>
                </a:solidFill>
              </a:rPr>
              <a:t>Java 17, Spring Boot 3.2, MySQL 8, Bootstrap 5, StarUML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23B5D"/>
          </a:solidFill>
          <a:ln>
            <a:solidFill>
              <a:srgbClr val="12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3B8A6"/>
          </a:solidFill>
          <a:ln>
            <a:solidFill>
              <a:srgbClr val="13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822960"/>
          </a:xfrm>
          <a:prstGeom prst="rect">
            <a:avLst/>
          </a:prstGeom>
          <a:noFill/>
        </p:spPr>
        <p:txBody>
          <a:bodyPr wrap="square" lIns="0" tIns="0" rIns="0" bIns="0">
            <a:spAutoFit/>
          </a:bodyPr>
          <a:lstStyle/>
          <a:p>
            <a:pPr>
              <a:defRPr sz="1000" b="1">
                <a:solidFill>
                  <a:srgbClr val="13B8A6"/>
                </a:solidFill>
              </a:defRPr>
            </a:pPr>
            <a:r>
              <a:t>RUBRIC: PROJECT UNDERSTANDING &amp; PROBLEM DOMAIN</a:t>
            </a:r>
          </a:p>
          <a:p>
            <a:pPr>
              <a:defRPr sz="2200" b="1">
                <a:solidFill>
                  <a:srgbClr val="FFFFFF"/>
                </a:solidFill>
              </a:defRPr>
            </a:pPr>
            <a:r>
              <a:t>Problem Domain, Project Objectives &amp; Stakeholders</a:t>
            </a:r>
          </a:p>
        </p:txBody>
      </p:sp>
      <p:sp>
        <p:nvSpPr>
          <p:cNvPr id="5" name="TextBox 4"/>
          <p:cNvSpPr txBox="1"/>
          <p:nvPr/>
        </p:nvSpPr>
        <p:spPr>
          <a:xfrm>
            <a:off x="731520" y="6446520"/>
            <a:ext cx="10728655" cy="365760"/>
          </a:xfrm>
          <a:prstGeom prst="rect">
            <a:avLst/>
          </a:prstGeom>
          <a:noFill/>
        </p:spPr>
        <p:txBody>
          <a:bodyPr wrap="none" tIns="0" bIns="0" lIns="0" rIns="0">
            <a:spAutoFit/>
          </a:bodyPr>
          <a:lstStyle/>
          <a:p>
            <a:pPr>
              <a:defRPr sz="1000">
                <a:solidFill>
                  <a:srgbClr val="64748B"/>
                </a:solidFill>
              </a:defRPr>
            </a:pPr>
            <a:r>
              <a:t>TravelMate – Smart Tourist Day-Visit Planner  |  ITE2953 Software Project  |  Slide 1 of 5</a:t>
            </a:r>
          </a:p>
        </p:txBody>
      </p:sp>
      <p:sp>
        <p:nvSpPr>
          <p:cNvPr id="6" name="Rounded Rectangle 5"/>
          <p:cNvSpPr/>
          <p:nvPr/>
        </p:nvSpPr>
        <p:spPr>
          <a:xfrm>
            <a:off x="731520" y="1280160"/>
            <a:ext cx="512064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23B5D"/>
                </a:solidFill>
              </a:defRPr>
            </a:pPr>
            <a:r>
              <a:t>1. Problem Domain &amp; Background</a:t>
            </a:r>
          </a:p>
          <a:p>
            <a:pPr>
              <a:spcBef>
                <a:spcPts val="800"/>
              </a:spcBef>
            </a:pPr>
            <a:r>
              <a:rPr b="1" sz="1100">
                <a:solidFill>
                  <a:srgbClr val="172B4D"/>
                </a:solidFill>
              </a:rPr>
              <a:t>• Information Fragmentation: </a:t>
            </a:r>
            <a:r>
              <a:rPr sz="1100">
                <a:solidFill>
                  <a:srgbClr val="64748B"/>
                </a:solidFill>
              </a:rPr>
              <a:t>Tourists visiting Atulugama, Bandaragama, and Kalutara face scattered, outdated visiting hours, ticket fees, and travel distance data across disparate social media pages.</a:t>
            </a:r>
          </a:p>
          <a:p>
            <a:pPr>
              <a:spcBef>
                <a:spcPts val="800"/>
              </a:spcBef>
            </a:pPr>
            <a:r>
              <a:rPr b="1" sz="1100">
                <a:solidFill>
                  <a:srgbClr val="172B4D"/>
                </a:solidFill>
              </a:rPr>
              <a:t>• Unrealistic Day Schedules: </a:t>
            </a:r>
            <a:r>
              <a:rPr sz="1100">
                <a:solidFill>
                  <a:srgbClr val="64748B"/>
                </a:solidFill>
              </a:rPr>
              <a:t>Visitors struggle to pace one-day trips. Standard navigation tools calculate point-to-point driving but ignore site dwell times, meal stops, and local road-winding factors.</a:t>
            </a:r>
          </a:p>
          <a:p>
            <a:pPr>
              <a:spcBef>
                <a:spcPts val="800"/>
              </a:spcBef>
            </a:pPr>
            <a:r>
              <a:rPr b="1" sz="1100">
                <a:solidFill>
                  <a:srgbClr val="172B4D"/>
                </a:solidFill>
              </a:rPr>
              <a:t>• Target Stakeholders: </a:t>
            </a:r>
            <a:r>
              <a:rPr sz="1100">
                <a:solidFill>
                  <a:srgbClr val="64748B"/>
                </a:solidFill>
              </a:rPr>
              <a:t>Domestic day tourists, visiting families, adventure sports enthusiasts, and local administrative authorities managing regional tourism assets.</a:t>
            </a:r>
          </a:p>
        </p:txBody>
      </p:sp>
      <p:sp>
        <p:nvSpPr>
          <p:cNvPr id="7" name="Rounded Rectangle 6"/>
          <p:cNvSpPr/>
          <p:nvPr/>
        </p:nvSpPr>
        <p:spPr>
          <a:xfrm>
            <a:off x="6217920" y="1280160"/>
            <a:ext cx="521208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23B5D"/>
                </a:solidFill>
              </a:defRPr>
            </a:pPr>
            <a:r>
              <a:t>2. Specific Objectives &amp; Scope</a:t>
            </a:r>
          </a:p>
          <a:p>
            <a:pPr>
              <a:spcBef>
                <a:spcPts val="800"/>
              </a:spcBef>
            </a:pPr>
            <a:r>
              <a:rPr b="1" sz="1100">
                <a:solidFill>
                  <a:srgbClr val="172B4D"/>
                </a:solidFill>
              </a:rPr>
              <a:t>• Curated 25km Spatial Radius: </a:t>
            </a:r>
            <a:r>
              <a:rPr sz="1100">
                <a:solidFill>
                  <a:srgbClr val="64748B"/>
                </a:solidFill>
              </a:rPr>
              <a:t>Filter and present 10 verified high-interest attractions across 6 distinct categories centered at Atulugama (6.7022° N, 80.0528° E).</a:t>
            </a:r>
          </a:p>
          <a:p>
            <a:pPr>
              <a:spcBef>
                <a:spcPts val="800"/>
              </a:spcBef>
            </a:pPr>
            <a:r>
              <a:rPr b="1" sz="1100">
                <a:solidFill>
                  <a:srgbClr val="172B4D"/>
                </a:solidFill>
              </a:rPr>
              <a:t>• Algorithmic Timeline Generator: </a:t>
            </a:r>
            <a:r>
              <a:rPr sz="1100">
                <a:solidFill>
                  <a:srgbClr val="64748B"/>
                </a:solidFill>
              </a:rPr>
              <a:t>Generate conflict-free, clock-timed itineraries incorporating transit buffers, stay durations, and automated midday lunch break scheduling.</a:t>
            </a:r>
          </a:p>
          <a:p>
            <a:pPr>
              <a:spcBef>
                <a:spcPts val="800"/>
              </a:spcBef>
            </a:pPr>
            <a:r>
              <a:rPr b="1" sz="1100">
                <a:solidFill>
                  <a:srgbClr val="172B4D"/>
                </a:solidFill>
              </a:rPr>
              <a:t>• Enterprise Administrative Governance: </a:t>
            </a:r>
            <a:r>
              <a:rPr sz="1100">
                <a:solidFill>
                  <a:srgbClr val="64748B"/>
                </a:solidFill>
              </a:rPr>
              <a:t>Full role-gated administrative suite for CRUD operations on destinations, categories, and moderation of tourist inquiries.</a:t>
            </a:r>
          </a:p>
          <a:p>
            <a:pPr>
              <a:spcBef>
                <a:spcPts val="800"/>
              </a:spcBef>
            </a:pPr>
            <a:r>
              <a:rPr b="1" sz="1100">
                <a:solidFill>
                  <a:srgbClr val="172B4D"/>
                </a:solidFill>
              </a:rPr>
              <a:t>• Decoupled Multi-Platform Deployment: </a:t>
            </a:r>
            <a:r>
              <a:rPr sz="1100">
                <a:solidFill>
                  <a:srgbClr val="64748B"/>
                </a:solidFill>
              </a:rPr>
              <a:t>RESTful backend ready for cloud containerization (Docker on Render) and responsive static frontend deployable on CDN / GitHub Pages.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23B5D"/>
          </a:solidFill>
          <a:ln>
            <a:solidFill>
              <a:srgbClr val="12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3B8A6"/>
          </a:solidFill>
          <a:ln>
            <a:solidFill>
              <a:srgbClr val="13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822960"/>
          </a:xfrm>
          <a:prstGeom prst="rect">
            <a:avLst/>
          </a:prstGeom>
          <a:noFill/>
        </p:spPr>
        <p:txBody>
          <a:bodyPr wrap="square" lIns="0" tIns="0" rIns="0" bIns="0">
            <a:spAutoFit/>
          </a:bodyPr>
          <a:lstStyle/>
          <a:p>
            <a:pPr>
              <a:defRPr sz="1000" b="1">
                <a:solidFill>
                  <a:srgbClr val="13B8A6"/>
                </a:solidFill>
              </a:defRPr>
            </a:pPr>
            <a:r>
              <a:t>RUBRIC: TECHNICAL IMPLEMENTATION KNOWLEDGE</a:t>
            </a:r>
          </a:p>
          <a:p>
            <a:pPr>
              <a:defRPr sz="2200" b="1">
                <a:solidFill>
                  <a:srgbClr val="FFFFFF"/>
                </a:solidFill>
              </a:defRPr>
            </a:pPr>
            <a:r>
              <a:t>Layered Architecture, Technology Stack &amp; API Contract</a:t>
            </a:r>
          </a:p>
        </p:txBody>
      </p:sp>
      <p:sp>
        <p:nvSpPr>
          <p:cNvPr id="5" name="TextBox 4"/>
          <p:cNvSpPr txBox="1"/>
          <p:nvPr/>
        </p:nvSpPr>
        <p:spPr>
          <a:xfrm>
            <a:off x="731520" y="6446520"/>
            <a:ext cx="10728655" cy="365760"/>
          </a:xfrm>
          <a:prstGeom prst="rect">
            <a:avLst/>
          </a:prstGeom>
          <a:noFill/>
        </p:spPr>
        <p:txBody>
          <a:bodyPr wrap="none" tIns="0" bIns="0" lIns="0" rIns="0">
            <a:spAutoFit/>
          </a:bodyPr>
          <a:lstStyle/>
          <a:p>
            <a:pPr>
              <a:defRPr sz="1000">
                <a:solidFill>
                  <a:srgbClr val="64748B"/>
                </a:solidFill>
              </a:defRPr>
            </a:pPr>
            <a:r>
              <a:t>TravelMate – Smart Tourist Day-Visit Planner  |  ITE2953 Software Project  |  Slide 2 of 5</a:t>
            </a:r>
          </a:p>
        </p:txBody>
      </p:sp>
      <p:sp>
        <p:nvSpPr>
          <p:cNvPr id="6" name="Rounded Rectangle 5"/>
          <p:cNvSpPr/>
          <p:nvPr/>
        </p:nvSpPr>
        <p:spPr>
          <a:xfrm>
            <a:off x="731520" y="1280160"/>
            <a:ext cx="3328416"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13B8A6"/>
                </a:solidFill>
              </a:defRPr>
            </a:pPr>
            <a:r>
              <a:t>Presentation Layer</a:t>
            </a:r>
          </a:p>
          <a:p>
            <a:pPr>
              <a:defRPr sz="1100">
                <a:solidFill>
                  <a:srgbClr val="64748B"/>
                </a:solidFill>
              </a:defRPr>
            </a:pPr>
            <a:r>
              <a:t>Decoupled Modern Client</a:t>
            </a:r>
          </a:p>
          <a:p>
            <a:pPr>
              <a:spcBef>
                <a:spcPts val="800"/>
              </a:spcBef>
            </a:pPr>
            <a:r>
              <a:rPr b="1" sz="1000">
                <a:solidFill>
                  <a:srgbClr val="172B4D"/>
                </a:solidFill>
              </a:rPr>
              <a:t>• HTML5 &amp; Bootstrap 5: </a:t>
            </a:r>
            <a:r>
              <a:rPr sz="1000">
                <a:solidFill>
                  <a:srgbClr val="64748B"/>
                </a:solidFill>
              </a:rPr>
              <a:t>Responsive mobile-first grid, accessible navigation, and modal dialogues.</a:t>
            </a:r>
          </a:p>
          <a:p>
            <a:pPr>
              <a:spcBef>
                <a:spcPts val="800"/>
              </a:spcBef>
            </a:pPr>
            <a:r>
              <a:rPr b="1" sz="1000">
                <a:solidFill>
                  <a:srgbClr val="172B4D"/>
                </a:solidFill>
              </a:rPr>
              <a:t>• Vanilla ES6+ JavaScript: </a:t>
            </a:r>
            <a:r>
              <a:rPr sz="1000">
                <a:solidFill>
                  <a:srgbClr val="64748B"/>
                </a:solidFill>
              </a:rPr>
              <a:t>Clean client logic without heavyweight framework bloat.</a:t>
            </a:r>
          </a:p>
          <a:p>
            <a:pPr>
              <a:spcBef>
                <a:spcPts val="800"/>
              </a:spcBef>
            </a:pPr>
            <a:r>
              <a:rPr b="1" sz="1000">
                <a:solidFill>
                  <a:srgbClr val="172B4D"/>
                </a:solidFill>
              </a:rPr>
              <a:t>• Unified API Client (api.js): </a:t>
            </a:r>
            <a:r>
              <a:rPr sz="1000">
                <a:solidFill>
                  <a:srgbClr val="64748B"/>
                </a:solidFill>
              </a:rPr>
              <a:t>Centralized TM_API object wrapping fetch requests with error handling.</a:t>
            </a:r>
          </a:p>
          <a:p>
            <a:pPr>
              <a:spcBef>
                <a:spcPts val="800"/>
              </a:spcBef>
            </a:pPr>
            <a:r>
              <a:rPr b="1" sz="1000">
                <a:solidFill>
                  <a:srgbClr val="172B4D"/>
                </a:solidFill>
              </a:rPr>
              <a:t>• Interactive Maps Integration: </a:t>
            </a:r>
            <a:r>
              <a:rPr sz="1000">
                <a:solidFill>
                  <a:srgbClr val="64748B"/>
                </a:solidFill>
              </a:rPr>
              <a:t>Direct integration with Google Maps multi-stop routing API.</a:t>
            </a:r>
          </a:p>
          <a:p>
            <a:pPr>
              <a:spcBef>
                <a:spcPts val="800"/>
              </a:spcBef>
            </a:pPr>
            <a:r>
              <a:rPr b="1" sz="1000">
                <a:solidFill>
                  <a:srgbClr val="172B4D"/>
                </a:solidFill>
              </a:rPr>
              <a:t>• Print / PDF Export: </a:t>
            </a:r>
            <a:r>
              <a:rPr sz="1000">
                <a:solidFill>
                  <a:srgbClr val="64748B"/>
                </a:solidFill>
              </a:rPr>
              <a:t>Dedicated CSS @media print styling for offline physical trip itineraries.</a:t>
            </a:r>
          </a:p>
        </p:txBody>
      </p:sp>
      <p:sp>
        <p:nvSpPr>
          <p:cNvPr id="7" name="Rounded Rectangle 6"/>
          <p:cNvSpPr/>
          <p:nvPr/>
        </p:nvSpPr>
        <p:spPr>
          <a:xfrm>
            <a:off x="4407408" y="1280160"/>
            <a:ext cx="3328416"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123B5D"/>
                </a:solidFill>
              </a:defRPr>
            </a:pPr>
            <a:r>
              <a:t>Backend REST Layer</a:t>
            </a:r>
          </a:p>
          <a:p>
            <a:pPr>
              <a:defRPr sz="1100">
                <a:solidFill>
                  <a:srgbClr val="64748B"/>
                </a:solidFill>
              </a:defRPr>
            </a:pPr>
            <a:r>
              <a:t>Spring Boot 3.2 &amp; Java 17</a:t>
            </a:r>
          </a:p>
          <a:p>
            <a:pPr>
              <a:spcBef>
                <a:spcPts val="800"/>
              </a:spcBef>
            </a:pPr>
            <a:r>
              <a:rPr b="1" sz="1000">
                <a:solidFill>
                  <a:srgbClr val="172B4D"/>
                </a:solidFill>
              </a:rPr>
              <a:t>• Clean Layered Hierarchy: </a:t>
            </a:r>
            <a:r>
              <a:rPr sz="1000">
                <a:solidFill>
                  <a:srgbClr val="64748B"/>
                </a:solidFill>
              </a:rPr>
              <a:t>Controller → Service Interface → ServiceImpl → Repository.</a:t>
            </a:r>
          </a:p>
          <a:p>
            <a:pPr>
              <a:spcBef>
                <a:spcPts val="800"/>
              </a:spcBef>
            </a:pPr>
            <a:r>
              <a:rPr b="1" sz="1000">
                <a:solidFill>
                  <a:srgbClr val="172B4D"/>
                </a:solidFill>
              </a:rPr>
              <a:t>• DTO Encapsulation: </a:t>
            </a:r>
            <a:r>
              <a:rPr sz="1000">
                <a:solidFill>
                  <a:srgbClr val="64748B"/>
                </a:solidFill>
              </a:rPr>
              <a:t>Zero JPA entity leakage across API boundaries; validated with Bean Validation (@Valid).</a:t>
            </a:r>
          </a:p>
          <a:p>
            <a:pPr>
              <a:spcBef>
                <a:spcPts val="800"/>
              </a:spcBef>
            </a:pPr>
            <a:r>
              <a:rPr b="1" sz="1000">
                <a:solidFill>
                  <a:srgbClr val="172B4D"/>
                </a:solidFill>
              </a:rPr>
              <a:t>• ApiResponse&lt;T&gt; Envelope: </a:t>
            </a:r>
            <a:r>
              <a:rPr sz="1000">
                <a:solidFill>
                  <a:srgbClr val="64748B"/>
                </a:solidFill>
              </a:rPr>
              <a:t>Predictable response structure: success, message, data, timestamp.</a:t>
            </a:r>
          </a:p>
          <a:p>
            <a:pPr>
              <a:spcBef>
                <a:spcPts val="800"/>
              </a:spcBef>
            </a:pPr>
            <a:r>
              <a:rPr b="1" sz="1000">
                <a:solidFill>
                  <a:srgbClr val="172B4D"/>
                </a:solidFill>
              </a:rPr>
              <a:t>• Global Exception Handling: </a:t>
            </a:r>
            <a:r>
              <a:rPr sz="1000">
                <a:solidFill>
                  <a:srgbClr val="64748B"/>
                </a:solidFill>
              </a:rPr>
              <a:t>Centralized @ControllerAdvice mapping domain exceptions to RFC HTTP status codes.</a:t>
            </a:r>
          </a:p>
          <a:p>
            <a:pPr>
              <a:spcBef>
                <a:spcPts val="800"/>
              </a:spcBef>
            </a:pPr>
            <a:r>
              <a:rPr b="1" sz="1000">
                <a:solidFill>
                  <a:srgbClr val="172B4D"/>
                </a:solidFill>
              </a:rPr>
              <a:t>• Security Crypto: </a:t>
            </a:r>
            <a:r>
              <a:rPr sz="1000">
                <a:solidFill>
                  <a:srgbClr val="64748B"/>
                </a:solidFill>
              </a:rPr>
              <a:t>BCrypt salted password hashing with Spring Security Crypto.</a:t>
            </a:r>
          </a:p>
        </p:txBody>
      </p:sp>
      <p:sp>
        <p:nvSpPr>
          <p:cNvPr id="8" name="Rounded Rectangle 7"/>
          <p:cNvSpPr/>
          <p:nvPr/>
        </p:nvSpPr>
        <p:spPr>
          <a:xfrm>
            <a:off x="8083296" y="1280160"/>
            <a:ext cx="3328416"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F59E42"/>
                </a:solidFill>
              </a:defRPr>
            </a:pPr>
            <a:r>
              <a:t>Data &amp; Deployment</a:t>
            </a:r>
          </a:p>
          <a:p>
            <a:pPr>
              <a:defRPr sz="1100">
                <a:solidFill>
                  <a:srgbClr val="64748B"/>
                </a:solidFill>
              </a:defRPr>
            </a:pPr>
            <a:r>
              <a:t>Relational Storage &amp; Cloud</a:t>
            </a:r>
          </a:p>
          <a:p>
            <a:pPr>
              <a:spcBef>
                <a:spcPts val="800"/>
              </a:spcBef>
            </a:pPr>
            <a:r>
              <a:rPr b="1" sz="1000">
                <a:solidFill>
                  <a:srgbClr val="172B4D"/>
                </a:solidFill>
              </a:rPr>
              <a:t>• MySQL 8.0 Relational DB: </a:t>
            </a:r>
            <a:r>
              <a:rPr sz="1000">
                <a:solidFill>
                  <a:srgbClr val="64748B"/>
                </a:solidFill>
              </a:rPr>
              <a:t>7 normalized tables enforcing referential integrity and cascading deletions.</a:t>
            </a:r>
          </a:p>
          <a:p>
            <a:pPr>
              <a:spcBef>
                <a:spcPts val="800"/>
              </a:spcBef>
            </a:pPr>
            <a:r>
              <a:rPr b="1" sz="1000">
                <a:solidFill>
                  <a:srgbClr val="172B4D"/>
                </a:solidFill>
              </a:rPr>
              <a:t>• Spring Data JPA &amp; Hibernate: </a:t>
            </a:r>
            <a:r>
              <a:rPr sz="1000">
                <a:solidFill>
                  <a:srgbClr val="64748B"/>
                </a:solidFill>
              </a:rPr>
              <a:t>High-performance ORM with HikariCP connection pooling.</a:t>
            </a:r>
          </a:p>
          <a:p>
            <a:pPr>
              <a:spcBef>
                <a:spcPts val="800"/>
              </a:spcBef>
            </a:pPr>
            <a:r>
              <a:rPr b="1" sz="1000">
                <a:solidFill>
                  <a:srgbClr val="172B4D"/>
                </a:solidFill>
              </a:rPr>
              <a:t>• Dual Test Strategy: </a:t>
            </a:r>
            <a:r>
              <a:rPr sz="1000">
                <a:solidFill>
                  <a:srgbClr val="64748B"/>
                </a:solidFill>
              </a:rPr>
              <a:t>In-memory H2 database runs 38 automated test cases in CI/CD without live MySQL dependency.</a:t>
            </a:r>
          </a:p>
          <a:p>
            <a:pPr>
              <a:spcBef>
                <a:spcPts val="800"/>
              </a:spcBef>
            </a:pPr>
            <a:r>
              <a:rPr b="1" sz="1000">
                <a:solidFill>
                  <a:srgbClr val="172B4D"/>
                </a:solidFill>
              </a:rPr>
              <a:t>• Docker Containerization: </a:t>
            </a:r>
            <a:r>
              <a:rPr sz="1000">
                <a:solidFill>
                  <a:srgbClr val="64748B"/>
                </a:solidFill>
              </a:rPr>
              <a:t>Optimized multi-stage Dockerfile for fast, minimal container builds.</a:t>
            </a:r>
          </a:p>
          <a:p>
            <a:pPr>
              <a:spcBef>
                <a:spcPts val="800"/>
              </a:spcBef>
            </a:pPr>
            <a:r>
              <a:rPr b="1" sz="1000">
                <a:solidFill>
                  <a:srgbClr val="172B4D"/>
                </a:solidFill>
              </a:rPr>
              <a:t>• Cloud Ready (Render / Pages): </a:t>
            </a:r>
            <a:r>
              <a:rPr sz="1000">
                <a:solidFill>
                  <a:srgbClr val="64748B"/>
                </a:solidFill>
              </a:rPr>
              <a:t>Decoupled hosting with environment auto-detection via config.js.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23B5D"/>
          </a:solidFill>
          <a:ln>
            <a:solidFill>
              <a:srgbClr val="12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3B8A6"/>
          </a:solidFill>
          <a:ln>
            <a:solidFill>
              <a:srgbClr val="13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822960"/>
          </a:xfrm>
          <a:prstGeom prst="rect">
            <a:avLst/>
          </a:prstGeom>
          <a:noFill/>
        </p:spPr>
        <p:txBody>
          <a:bodyPr wrap="square" lIns="0" tIns="0" rIns="0" bIns="0">
            <a:spAutoFit/>
          </a:bodyPr>
          <a:lstStyle/>
          <a:p>
            <a:pPr>
              <a:defRPr sz="1000" b="1">
                <a:solidFill>
                  <a:srgbClr val="13B8A6"/>
                </a:solidFill>
              </a:defRPr>
            </a:pPr>
            <a:r>
              <a:t>RUBRIC: SYSTEM DEMONSTRATION &amp; FUNCTIONALITY</a:t>
            </a:r>
          </a:p>
          <a:p>
            <a:pPr>
              <a:defRPr sz="2200" b="1">
                <a:solidFill>
                  <a:srgbClr val="FFFFFF"/>
                </a:solidFill>
              </a:defRPr>
            </a:pPr>
            <a:r>
              <a:t>Core System Functionality &amp; Nearest-Neighbour Routing Algorithm</a:t>
            </a:r>
          </a:p>
        </p:txBody>
      </p:sp>
      <p:sp>
        <p:nvSpPr>
          <p:cNvPr id="5" name="TextBox 4"/>
          <p:cNvSpPr txBox="1"/>
          <p:nvPr/>
        </p:nvSpPr>
        <p:spPr>
          <a:xfrm>
            <a:off x="731520" y="6446520"/>
            <a:ext cx="10728655" cy="365760"/>
          </a:xfrm>
          <a:prstGeom prst="rect">
            <a:avLst/>
          </a:prstGeom>
          <a:noFill/>
        </p:spPr>
        <p:txBody>
          <a:bodyPr wrap="none" tIns="0" bIns="0" lIns="0" rIns="0">
            <a:spAutoFit/>
          </a:bodyPr>
          <a:lstStyle/>
          <a:p>
            <a:pPr>
              <a:defRPr sz="1000">
                <a:solidFill>
                  <a:srgbClr val="64748B"/>
                </a:solidFill>
              </a:defRPr>
            </a:pPr>
            <a:r>
              <a:t>TravelMate – Smart Tourist Day-Visit Planner  |  ITE2953 Software Project  |  Slide 3 of 5</a:t>
            </a:r>
          </a:p>
        </p:txBody>
      </p:sp>
      <p:sp>
        <p:nvSpPr>
          <p:cNvPr id="6" name="Rounded Rectangle 5"/>
          <p:cNvSpPr/>
          <p:nvPr/>
        </p:nvSpPr>
        <p:spPr>
          <a:xfrm>
            <a:off x="731520" y="1280160"/>
            <a:ext cx="512064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23B5D"/>
                </a:solidFill>
              </a:defRPr>
            </a:pPr>
            <a:r>
              <a:t>Implemented System Capabilities</a:t>
            </a:r>
          </a:p>
          <a:p>
            <a:pPr>
              <a:spcBef>
                <a:spcPts val="600"/>
              </a:spcBef>
            </a:pPr>
            <a:r>
              <a:rPr b="1" sz="1100">
                <a:solidFill>
                  <a:srgbClr val="172B4D"/>
                </a:solidFill>
              </a:rPr>
              <a:t>• Catalog Discovery: </a:t>
            </a:r>
            <a:r>
              <a:rPr sz="1000">
                <a:solidFill>
                  <a:srgbClr val="64748B"/>
                </a:solidFill>
              </a:rPr>
              <a:t>Multi-criteria filtering by category chips, real-time keyword search, and sorting by duration, distance, and rating.</a:t>
            </a:r>
          </a:p>
          <a:p>
            <a:pPr>
              <a:spcBef>
                <a:spcPts val="600"/>
              </a:spcBef>
            </a:pPr>
            <a:r>
              <a:rPr b="1" sz="1100">
                <a:solidFill>
                  <a:srgbClr val="172B4D"/>
                </a:solidFill>
              </a:rPr>
              <a:t>• Rich Destination Profiles: </a:t>
            </a:r>
            <a:r>
              <a:rPr sz="1000">
                <a:solidFill>
                  <a:srgbClr val="64748B"/>
                </a:solidFill>
              </a:rPr>
              <a:t>High-resolution photos, verified GPS coordinates, visiting duration, admission fee, opening hours, and travel etiquette tips.</a:t>
            </a:r>
          </a:p>
          <a:p>
            <a:pPr>
              <a:spcBef>
                <a:spcPts val="600"/>
              </a:spcBef>
            </a:pPr>
            <a:r>
              <a:rPr b="1" sz="1100">
                <a:solidFill>
                  <a:srgbClr val="172B4D"/>
                </a:solidFill>
              </a:rPr>
              <a:t>• Trip Shortlisting: </a:t>
            </a:r>
            <a:r>
              <a:rPr sz="1000">
                <a:solidFill>
                  <a:srgbClr val="64748B"/>
                </a:solidFill>
              </a:rPr>
              <a:t>One-click 'Add to Day Plan' with duplicate prevention toast notifications and live badge counter.</a:t>
            </a:r>
          </a:p>
          <a:p>
            <a:pPr>
              <a:spcBef>
                <a:spcPts val="600"/>
              </a:spcBef>
            </a:pPr>
            <a:r>
              <a:rPr b="1" sz="1100">
                <a:solidFill>
                  <a:srgbClr val="172B4D"/>
                </a:solidFill>
              </a:rPr>
              <a:t>• Admin Portal &amp; CRUD: </a:t>
            </a:r>
            <a:r>
              <a:rPr sz="1000">
                <a:solidFill>
                  <a:srgbClr val="64748B"/>
                </a:solidFill>
              </a:rPr>
              <a:t>Secured dashboard with KPI summary cards, modal forms for adding/editing destinations, and category moderation.</a:t>
            </a:r>
          </a:p>
          <a:p>
            <a:pPr>
              <a:spcBef>
                <a:spcPts val="600"/>
              </a:spcBef>
            </a:pPr>
            <a:r>
              <a:rPr b="1" sz="1100">
                <a:solidFill>
                  <a:srgbClr val="172B4D"/>
                </a:solidFill>
              </a:rPr>
              <a:t>• Public Inquiries: </a:t>
            </a:r>
            <a:r>
              <a:rPr sz="1000">
                <a:solidFill>
                  <a:srgbClr val="64748B"/>
                </a:solidFill>
              </a:rPr>
              <a:t>Tourists submit inquiries via contact form; admins review, filter, and mark messages as read.</a:t>
            </a:r>
          </a:p>
        </p:txBody>
      </p:sp>
      <p:sp>
        <p:nvSpPr>
          <p:cNvPr id="7" name="Rounded Rectangle 6"/>
          <p:cNvSpPr/>
          <p:nvPr/>
        </p:nvSpPr>
        <p:spPr>
          <a:xfrm>
            <a:off x="6217920" y="1280160"/>
            <a:ext cx="521208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3B8A6"/>
                </a:solidFill>
              </a:defRPr>
            </a:pPr>
            <a:r>
              <a:t>Smart Nearest-Neighbour Itinerary Algorithm</a:t>
            </a:r>
          </a:p>
          <a:p>
            <a:pPr>
              <a:spcBef>
                <a:spcPts val="500"/>
              </a:spcBef>
            </a:pPr>
            <a:r>
              <a:rPr b="1" sz="1000">
                <a:solidFill>
                  <a:srgbClr val="123B5D"/>
                </a:solidFill>
              </a:rPr>
              <a:t>Step 1: Anchor Origin: </a:t>
            </a:r>
            <a:r>
              <a:rPr sz="1000">
                <a:solidFill>
                  <a:srgbClr val="64748B"/>
                </a:solidFill>
              </a:rPr>
              <a:t>Departure is always anchored at Atulugama Central Coordinates (6.7022° N, 80.0528° E).</a:t>
            </a:r>
          </a:p>
          <a:p>
            <a:pPr>
              <a:spcBef>
                <a:spcPts val="500"/>
              </a:spcBef>
            </a:pPr>
            <a:r>
              <a:rPr b="1" sz="1000">
                <a:solidFill>
                  <a:srgbClr val="123B5D"/>
                </a:solidFill>
              </a:rPr>
              <a:t>Step 2: Road Distance Matrix: </a:t>
            </a:r>
            <a:r>
              <a:rPr sz="1000">
                <a:solidFill>
                  <a:srgbClr val="64748B"/>
                </a:solidFill>
              </a:rPr>
              <a:t>Computes Haversine great-circle distance multiplied by a 1.25× empirical road-winding coefficient for Sri Lankan suburban terrain.</a:t>
            </a:r>
          </a:p>
          <a:p>
            <a:pPr>
              <a:spcBef>
                <a:spcPts val="500"/>
              </a:spcBef>
            </a:pPr>
            <a:r>
              <a:rPr b="1" sz="1000">
                <a:solidFill>
                  <a:srgbClr val="123B5D"/>
                </a:solidFill>
              </a:rPr>
              <a:t>Step 3: Realistic Transit Speeds: </a:t>
            </a:r>
            <a:r>
              <a:rPr sz="1000">
                <a:solidFill>
                  <a:srgbClr val="64748B"/>
                </a:solidFill>
              </a:rPr>
              <a:t>Applies vehicle travel speeds (Car: 35 km/h, Motorcycle: 40 km/h) to compute minute-accurate inter-stop transit buffers.</a:t>
            </a:r>
          </a:p>
          <a:p>
            <a:pPr>
              <a:spcBef>
                <a:spcPts val="500"/>
              </a:spcBef>
            </a:pPr>
            <a:r>
              <a:rPr b="1" sz="1000">
                <a:solidFill>
                  <a:srgbClr val="123B5D"/>
                </a:solidFill>
              </a:rPr>
              <a:t>Step 4: Greedy Nearest-Neighbour: </a:t>
            </a:r>
            <a:r>
              <a:rPr sz="1000">
                <a:solidFill>
                  <a:srgbClr val="64748B"/>
                </a:solidFill>
              </a:rPr>
              <a:t>Iteratively selects the closest unvisited shortlisted stop, minimizing cumulative transit fatigue.</a:t>
            </a:r>
          </a:p>
          <a:p>
            <a:pPr>
              <a:spcBef>
                <a:spcPts val="500"/>
              </a:spcBef>
            </a:pPr>
            <a:r>
              <a:rPr b="1" sz="1000">
                <a:solidFill>
                  <a:srgbClr val="123B5D"/>
                </a:solidFill>
              </a:rPr>
              <a:t>Step 5: Time Slots &amp; Lunch Break: </a:t>
            </a:r>
            <a:r>
              <a:rPr sz="1000">
                <a:solidFill>
                  <a:srgbClr val="64748B"/>
                </a:solidFill>
              </a:rPr>
              <a:t>Calculates cumulative arrival and departure clock times. If the tour spans 12:30 PM – 1:30 PM, a 60-minute lunch break is inserted.</a:t>
            </a:r>
          </a:p>
          <a:p>
            <a:pPr>
              <a:spcBef>
                <a:spcPts val="500"/>
              </a:spcBef>
            </a:pPr>
            <a:r>
              <a:rPr b="1" sz="1000">
                <a:solidFill>
                  <a:srgbClr val="123B5D"/>
                </a:solidFill>
              </a:rPr>
              <a:t>Step 6: Overflow Boundary Check: </a:t>
            </a:r>
            <a:r>
              <a:rPr sz="1000">
                <a:solidFill>
                  <a:srgbClr val="64748B"/>
                </a:solidFill>
              </a:rPr>
              <a:t>If a destination cannot be completed before the user-specified Finish Time, it is gracefully flagged as an advisory overflow stop.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23B5D"/>
          </a:solidFill>
          <a:ln>
            <a:solidFill>
              <a:srgbClr val="12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3B8A6"/>
          </a:solidFill>
          <a:ln>
            <a:solidFill>
              <a:srgbClr val="13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822960"/>
          </a:xfrm>
          <a:prstGeom prst="rect">
            <a:avLst/>
          </a:prstGeom>
          <a:noFill/>
        </p:spPr>
        <p:txBody>
          <a:bodyPr wrap="square" lIns="0" tIns="0" rIns="0" bIns="0">
            <a:spAutoFit/>
          </a:bodyPr>
          <a:lstStyle/>
          <a:p>
            <a:pPr>
              <a:defRPr sz="1000" b="1">
                <a:solidFill>
                  <a:srgbClr val="13B8A6"/>
                </a:solidFill>
              </a:defRPr>
            </a:pPr>
            <a:r>
              <a:t>RUBRIC: SOFTWARE ENGINEERING &amp; DESIGN DECISIONS</a:t>
            </a:r>
          </a:p>
          <a:p>
            <a:pPr>
              <a:defRPr sz="2200" b="1">
                <a:solidFill>
                  <a:srgbClr val="FFFFFF"/>
                </a:solidFill>
              </a:defRPr>
            </a:pPr>
            <a:r>
              <a:t>Relational Database Design &amp; Key Software Engineering Decisions</a:t>
            </a:r>
          </a:p>
        </p:txBody>
      </p:sp>
      <p:sp>
        <p:nvSpPr>
          <p:cNvPr id="5" name="TextBox 4"/>
          <p:cNvSpPr txBox="1"/>
          <p:nvPr/>
        </p:nvSpPr>
        <p:spPr>
          <a:xfrm>
            <a:off x="731520" y="6446520"/>
            <a:ext cx="10728655" cy="365760"/>
          </a:xfrm>
          <a:prstGeom prst="rect">
            <a:avLst/>
          </a:prstGeom>
          <a:noFill/>
        </p:spPr>
        <p:txBody>
          <a:bodyPr wrap="none" tIns="0" bIns="0" lIns="0" rIns="0">
            <a:spAutoFit/>
          </a:bodyPr>
          <a:lstStyle/>
          <a:p>
            <a:pPr>
              <a:defRPr sz="1000">
                <a:solidFill>
                  <a:srgbClr val="64748B"/>
                </a:solidFill>
              </a:defRPr>
            </a:pPr>
            <a:r>
              <a:t>TravelMate – Smart Tourist Day-Visit Planner  |  ITE2953 Software Project  |  Slide 4 of 5</a:t>
            </a:r>
          </a:p>
        </p:txBody>
      </p:sp>
      <p:sp>
        <p:nvSpPr>
          <p:cNvPr id="6" name="Rounded Rectangle 5"/>
          <p:cNvSpPr/>
          <p:nvPr/>
        </p:nvSpPr>
        <p:spPr>
          <a:xfrm>
            <a:off x="731520" y="1280160"/>
            <a:ext cx="512064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23B5D"/>
                </a:solidFill>
              </a:defRPr>
            </a:pPr>
            <a:r>
              <a:t>Relational Schema (7 Tables)</a:t>
            </a:r>
          </a:p>
          <a:p>
            <a:pPr>
              <a:spcBef>
                <a:spcPts val="500"/>
              </a:spcBef>
            </a:pPr>
            <a:r>
              <a:rPr b="1" sz="1000">
                <a:solidFill>
                  <a:srgbClr val="172B4D"/>
                </a:solidFill>
              </a:rPr>
              <a:t>• users: </a:t>
            </a:r>
            <a:r>
              <a:rPr sz="1000">
                <a:solidFill>
                  <a:srgbClr val="64748B"/>
                </a:solidFill>
              </a:rPr>
              <a:t>User authentication, hashed passwords, roles (ADMIN / TOURIST).</a:t>
            </a:r>
          </a:p>
          <a:p>
            <a:pPr>
              <a:spcBef>
                <a:spcPts val="500"/>
              </a:spcBef>
            </a:pPr>
            <a:r>
              <a:rPr b="1" sz="1000">
                <a:solidFill>
                  <a:srgbClr val="172B4D"/>
                </a:solidFill>
              </a:rPr>
              <a:t>• categories: </a:t>
            </a:r>
            <a:r>
              <a:rPr sz="1000">
                <a:solidFill>
                  <a:srgbClr val="64748B"/>
                </a:solidFill>
              </a:rPr>
              <a:t>Attraction taxonomy (Recreation, Adventure, Nature, Beaches, etc.).</a:t>
            </a:r>
          </a:p>
          <a:p>
            <a:pPr>
              <a:spcBef>
                <a:spcPts val="500"/>
              </a:spcBef>
            </a:pPr>
            <a:r>
              <a:rPr b="1" sz="1000">
                <a:solidFill>
                  <a:srgbClr val="172B4D"/>
                </a:solidFill>
              </a:rPr>
              <a:t>• attractions: </a:t>
            </a:r>
            <a:r>
              <a:rPr sz="1000">
                <a:solidFill>
                  <a:srgbClr val="64748B"/>
                </a:solidFill>
              </a:rPr>
              <a:t>10 seeded destinations with GPS coords, durations, opening hours, fees.</a:t>
            </a:r>
          </a:p>
          <a:p>
            <a:pPr>
              <a:spcBef>
                <a:spcPts val="500"/>
              </a:spcBef>
            </a:pPr>
            <a:r>
              <a:rPr b="1" sz="1000">
                <a:solidFill>
                  <a:srgbClr val="172B4D"/>
                </a:solidFill>
              </a:rPr>
              <a:t>• itinerary: </a:t>
            </a:r>
            <a:r>
              <a:rPr sz="1000">
                <a:solidFill>
                  <a:srgbClr val="64748B"/>
                </a:solidFill>
              </a:rPr>
              <a:t>Master day plan record linked to user, date, start/end time, travel mode.</a:t>
            </a:r>
          </a:p>
          <a:p>
            <a:pPr>
              <a:spcBef>
                <a:spcPts val="500"/>
              </a:spcBef>
            </a:pPr>
            <a:r>
              <a:rPr b="1" sz="1000">
                <a:solidFill>
                  <a:srgbClr val="172B4D"/>
                </a:solidFill>
              </a:rPr>
              <a:t>• itinerary_items: </a:t>
            </a:r>
            <a:r>
              <a:rPr sz="1000">
                <a:solidFill>
                  <a:srgbClr val="64748B"/>
                </a:solidFill>
              </a:rPr>
              <a:t>Ordered stops per plan with arrival, departure, transit buffer, distance.</a:t>
            </a:r>
          </a:p>
          <a:p>
            <a:pPr>
              <a:spcBef>
                <a:spcPts val="500"/>
              </a:spcBef>
            </a:pPr>
            <a:r>
              <a:rPr b="1" sz="1000">
                <a:solidFill>
                  <a:srgbClr val="172B4D"/>
                </a:solidFill>
              </a:rPr>
              <a:t>• favorites: </a:t>
            </a:r>
            <a:r>
              <a:rPr sz="1000">
                <a:solidFill>
                  <a:srgbClr val="64748B"/>
                </a:solidFill>
              </a:rPr>
              <a:t>Many-to-Many junction table bookmarking saved attractions per user.</a:t>
            </a:r>
          </a:p>
          <a:p>
            <a:pPr>
              <a:spcBef>
                <a:spcPts val="500"/>
              </a:spcBef>
            </a:pPr>
            <a:r>
              <a:rPr b="1" sz="1000">
                <a:solidFill>
                  <a:srgbClr val="172B4D"/>
                </a:solidFill>
              </a:rPr>
              <a:t>• contact_messages: </a:t>
            </a:r>
            <a:r>
              <a:rPr sz="1000">
                <a:solidFill>
                  <a:srgbClr val="64748B"/>
                </a:solidFill>
              </a:rPr>
              <a:t>Tourist inquiry messages with read/unread moderation status.</a:t>
            </a:r>
          </a:p>
        </p:txBody>
      </p:sp>
      <p:sp>
        <p:nvSpPr>
          <p:cNvPr id="7" name="Rounded Rectangle 6"/>
          <p:cNvSpPr/>
          <p:nvPr/>
        </p:nvSpPr>
        <p:spPr>
          <a:xfrm>
            <a:off x="6217920" y="1280160"/>
            <a:ext cx="521208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3B8A6"/>
                </a:solidFill>
              </a:defRPr>
            </a:pPr>
            <a:r>
              <a:t>Justified Design &amp; Engineering Decisions</a:t>
            </a:r>
          </a:p>
          <a:p>
            <a:pPr>
              <a:spcBef>
                <a:spcPts val="600"/>
              </a:spcBef>
            </a:pPr>
            <a:r>
              <a:rPr b="1" sz="1000">
                <a:solidFill>
                  <a:srgbClr val="172B4D"/>
                </a:solidFill>
              </a:rPr>
              <a:t>• Deterministic Nearest-Neighbour: </a:t>
            </a:r>
            <a:r>
              <a:rPr sz="1000">
                <a:solidFill>
                  <a:srgbClr val="64748B"/>
                </a:solidFill>
              </a:rPr>
              <a:t>Guarantees mathematically explainable, reproducible itineraries without unpredictable hallucinations or third-party paid API quotas.</a:t>
            </a:r>
          </a:p>
          <a:p>
            <a:pPr>
              <a:spcBef>
                <a:spcPts val="600"/>
              </a:spcBef>
            </a:pPr>
            <a:r>
              <a:rPr b="1" sz="1000">
                <a:solidFill>
                  <a:srgbClr val="172B4D"/>
                </a:solidFill>
              </a:rPr>
              <a:t>• Standard Java POJOs (No Lombok): </a:t>
            </a:r>
            <a:r>
              <a:rPr sz="1000">
                <a:solidFill>
                  <a:srgbClr val="64748B"/>
                </a:solidFill>
              </a:rPr>
              <a:t>Prevents Lombok annotation-processor build incompatibilities across varying JDK versions (Java 17, 21, and 26), ensuring 100% build reproducibility for examiners.</a:t>
            </a:r>
          </a:p>
          <a:p>
            <a:pPr>
              <a:spcBef>
                <a:spcPts val="600"/>
              </a:spcBef>
            </a:pPr>
            <a:r>
              <a:rPr b="1" sz="1000">
                <a:solidFill>
                  <a:srgbClr val="172B4D"/>
                </a:solidFill>
              </a:rPr>
              <a:t>• Dual-Layer Data Resilience: </a:t>
            </a:r>
            <a:r>
              <a:rPr sz="1000">
                <a:solidFill>
                  <a:srgbClr val="64748B"/>
                </a:solidFill>
              </a:rPr>
              <a:t>The frontend features a client-side offline dataset (data.js) coupled with live REST synchronization, ensuring the system runs smoothly even in offline grading environments.</a:t>
            </a:r>
          </a:p>
          <a:p>
            <a:pPr>
              <a:spcBef>
                <a:spcPts val="600"/>
              </a:spcBef>
            </a:pPr>
            <a:r>
              <a:rPr b="1" sz="1000">
                <a:solidFill>
                  <a:srgbClr val="172B4D"/>
                </a:solidFill>
              </a:rPr>
              <a:t>• Strict DTO Encapsulation: </a:t>
            </a:r>
            <a:r>
              <a:rPr sz="1000">
                <a:solidFill>
                  <a:srgbClr val="64748B"/>
                </a:solidFill>
              </a:rPr>
              <a:t>Prevents JPA serialization recursion and over-posting security vulnerabilities by keeping entity models strictly within the service layer.</a:t>
            </a:r>
          </a:p>
          <a:p>
            <a:pPr>
              <a:spcBef>
                <a:spcPts val="600"/>
              </a:spcBef>
            </a:pPr>
            <a:r>
              <a:rPr b="1" sz="1000">
                <a:solidFill>
                  <a:srgbClr val="172B4D"/>
                </a:solidFill>
              </a:rPr>
              <a:t>• Database Cascades: </a:t>
            </a:r>
            <a:r>
              <a:rPr sz="1000">
                <a:solidFill>
                  <a:srgbClr val="64748B"/>
                </a:solidFill>
              </a:rPr>
              <a:t>Foreign key constraints utilize ON DELETE CASCADE where appropriate, preventing orphaned child records.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23B5D"/>
          </a:solidFill>
          <a:ln>
            <a:solidFill>
              <a:srgbClr val="12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3B8A6"/>
          </a:solidFill>
          <a:ln>
            <a:solidFill>
              <a:srgbClr val="13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822960"/>
          </a:xfrm>
          <a:prstGeom prst="rect">
            <a:avLst/>
          </a:prstGeom>
          <a:noFill/>
        </p:spPr>
        <p:txBody>
          <a:bodyPr wrap="square" lIns="0" tIns="0" rIns="0" bIns="0">
            <a:spAutoFit/>
          </a:bodyPr>
          <a:lstStyle/>
          <a:p>
            <a:pPr>
              <a:defRPr sz="1000" b="1">
                <a:solidFill>
                  <a:srgbClr val="13B8A6"/>
                </a:solidFill>
              </a:defRPr>
            </a:pPr>
            <a:r>
              <a:t>RUBRIC: COMMUNICATION &amp; TESTING RIGOR</a:t>
            </a:r>
          </a:p>
          <a:p>
            <a:pPr>
              <a:defRPr sz="2200" b="1">
                <a:solidFill>
                  <a:srgbClr val="FFFFFF"/>
                </a:solidFill>
              </a:defRPr>
            </a:pPr>
            <a:r>
              <a:t>Software Testing Strategy, Automated Results &amp; Project Deliverables</a:t>
            </a:r>
          </a:p>
        </p:txBody>
      </p:sp>
      <p:sp>
        <p:nvSpPr>
          <p:cNvPr id="5" name="TextBox 4"/>
          <p:cNvSpPr txBox="1"/>
          <p:nvPr/>
        </p:nvSpPr>
        <p:spPr>
          <a:xfrm>
            <a:off x="731520" y="6446520"/>
            <a:ext cx="10728655" cy="365760"/>
          </a:xfrm>
          <a:prstGeom prst="rect">
            <a:avLst/>
          </a:prstGeom>
          <a:noFill/>
        </p:spPr>
        <p:txBody>
          <a:bodyPr wrap="none" tIns="0" bIns="0" lIns="0" rIns="0">
            <a:spAutoFit/>
          </a:bodyPr>
          <a:lstStyle/>
          <a:p>
            <a:pPr>
              <a:defRPr sz="1000">
                <a:solidFill>
                  <a:srgbClr val="64748B"/>
                </a:solidFill>
              </a:defRPr>
            </a:pPr>
            <a:r>
              <a:t>TravelMate – Smart Tourist Day-Visit Planner  |  ITE2953 Software Project  |  Slide 5 of 5</a:t>
            </a:r>
          </a:p>
        </p:txBody>
      </p:sp>
      <p:sp>
        <p:nvSpPr>
          <p:cNvPr id="6" name="Rounded Rectangle 5"/>
          <p:cNvSpPr/>
          <p:nvPr/>
        </p:nvSpPr>
        <p:spPr>
          <a:xfrm>
            <a:off x="731520" y="1280160"/>
            <a:ext cx="3328416"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1800" b="1">
                <a:solidFill>
                  <a:srgbClr val="16A34A"/>
                </a:solidFill>
              </a:defRPr>
            </a:pPr>
            <a:r>
              <a:t>38 / 38 TESTS PASSED</a:t>
            </a:r>
          </a:p>
          <a:p>
            <a:pPr algn="ctr">
              <a:defRPr sz="1000">
                <a:solidFill>
                  <a:srgbClr val="64748B"/>
                </a:solidFill>
              </a:defRPr>
            </a:pPr>
            <a:r>
              <a:t>100% Automated Maven Test Pass Rate</a:t>
            </a:r>
          </a:p>
        </p:txBody>
      </p:sp>
      <p:sp>
        <p:nvSpPr>
          <p:cNvPr id="7" name="Rounded Rectangle 6"/>
          <p:cNvSpPr/>
          <p:nvPr/>
        </p:nvSpPr>
        <p:spPr>
          <a:xfrm>
            <a:off x="4407408" y="1280160"/>
            <a:ext cx="3328416"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1800" b="1">
                <a:solidFill>
                  <a:srgbClr val="123B5D"/>
                </a:solidFill>
              </a:defRPr>
            </a:pPr>
            <a:r>
              <a:t>20 / 20 TEST CASES</a:t>
            </a:r>
          </a:p>
          <a:p>
            <a:pPr algn="ctr">
              <a:defRPr sz="1000">
                <a:solidFill>
                  <a:srgbClr val="64748B"/>
                </a:solidFill>
              </a:defRPr>
            </a:pPr>
            <a:r>
              <a:t>University Specification (TC01–TC20)</a:t>
            </a:r>
          </a:p>
        </p:txBody>
      </p:sp>
      <p:sp>
        <p:nvSpPr>
          <p:cNvPr id="8" name="Rounded Rectangle 7"/>
          <p:cNvSpPr/>
          <p:nvPr/>
        </p:nvSpPr>
        <p:spPr>
          <a:xfrm>
            <a:off x="8083296" y="1280160"/>
            <a:ext cx="3328416"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1800" b="1">
                <a:solidFill>
                  <a:srgbClr val="13B8A6"/>
                </a:solidFill>
              </a:defRPr>
            </a:pPr>
            <a:r>
              <a:t>0 FAILURES / 0 REGRESSIONS</a:t>
            </a:r>
          </a:p>
          <a:p>
            <a:pPr algn="ctr">
              <a:defRPr sz="1000">
                <a:solidFill>
                  <a:srgbClr val="64748B"/>
                </a:solidFill>
              </a:defRPr>
            </a:pPr>
            <a:r>
              <a:t>Spring Boot MockMvc &amp; JUnit 5 Suite</a:t>
            </a:r>
          </a:p>
        </p:txBody>
      </p:sp>
      <p:sp>
        <p:nvSpPr>
          <p:cNvPr id="9" name="Rounded Rectangle 8"/>
          <p:cNvSpPr/>
          <p:nvPr/>
        </p:nvSpPr>
        <p:spPr>
          <a:xfrm>
            <a:off x="731520" y="2560320"/>
            <a:ext cx="5120640" cy="3657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500" b="1">
                <a:solidFill>
                  <a:srgbClr val="123B5D"/>
                </a:solidFill>
              </a:defRPr>
            </a:pPr>
            <a:r>
              <a:t>Testing Strategies Implemented</a:t>
            </a:r>
          </a:p>
          <a:p>
            <a:pPr>
              <a:spcBef>
                <a:spcPts val="500"/>
              </a:spcBef>
            </a:pPr>
            <a:r>
              <a:rPr b="1" sz="1000">
                <a:solidFill>
                  <a:srgbClr val="172B4D"/>
                </a:solidFill>
              </a:rPr>
              <a:t>• Unit Testing (Mockito): </a:t>
            </a:r>
            <a:r>
              <a:rPr sz="1000">
                <a:solidFill>
                  <a:srgbClr val="64748B"/>
                </a:solidFill>
              </a:rPr>
              <a:t>18 tests isolating service logic, DTO mapping, and edge condition handling.</a:t>
            </a:r>
          </a:p>
          <a:p>
            <a:pPr>
              <a:spcBef>
                <a:spcPts val="500"/>
              </a:spcBef>
            </a:pPr>
            <a:r>
              <a:rPr b="1" sz="1000">
                <a:solidFill>
                  <a:srgbClr val="172B4D"/>
                </a:solidFill>
              </a:rPr>
              <a:t>• Integration Testing (MockMvc + H2): </a:t>
            </a:r>
            <a:r>
              <a:rPr sz="1000">
                <a:solidFill>
                  <a:srgbClr val="64748B"/>
                </a:solidFill>
              </a:rPr>
              <a:t>20 tests verifying REST routes, JSON payloads, and validation constraints against in-memory H2 database.</a:t>
            </a:r>
          </a:p>
          <a:p>
            <a:pPr>
              <a:spcBef>
                <a:spcPts val="500"/>
              </a:spcBef>
            </a:pPr>
            <a:r>
              <a:rPr b="1" sz="1000">
                <a:solidFill>
                  <a:srgbClr val="172B4D"/>
                </a:solidFill>
              </a:rPr>
              <a:t>• Security Regression Testing: </a:t>
            </a:r>
            <a:r>
              <a:rPr sz="1000">
                <a:solidFill>
                  <a:srgbClr val="64748B"/>
                </a:solidFill>
              </a:rPr>
              <a:t>Verified BCrypt login authentication and 401 Unauthorized handling for unauthenticated requests.</a:t>
            </a:r>
          </a:p>
          <a:p>
            <a:pPr>
              <a:spcBef>
                <a:spcPts val="500"/>
              </a:spcBef>
            </a:pPr>
            <a:r>
              <a:rPr b="1" sz="1000">
                <a:solidFill>
                  <a:srgbClr val="172B4D"/>
                </a:solidFill>
              </a:rPr>
              <a:t>• Cross-Device UI Verification: </a:t>
            </a:r>
            <a:r>
              <a:rPr sz="1000">
                <a:solidFill>
                  <a:srgbClr val="64748B"/>
                </a:solidFill>
              </a:rPr>
              <a:t>Verified responsive rendering across 375px mobile, tablet, and desktop breakpoints.</a:t>
            </a:r>
          </a:p>
        </p:txBody>
      </p:sp>
      <p:sp>
        <p:nvSpPr>
          <p:cNvPr id="10" name="Rounded Rectangle 9"/>
          <p:cNvSpPr/>
          <p:nvPr/>
        </p:nvSpPr>
        <p:spPr>
          <a:xfrm>
            <a:off x="6217920" y="2560320"/>
            <a:ext cx="5212080" cy="3657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500" b="1">
                <a:solidFill>
                  <a:srgbClr val="13B8A6"/>
                </a:solidFill>
              </a:defRPr>
            </a:pPr>
            <a:r>
              <a:t>Packaged Submission Deliverables</a:t>
            </a:r>
          </a:p>
          <a:p>
            <a:pPr>
              <a:spcBef>
                <a:spcPts val="500"/>
              </a:spcBef>
            </a:pPr>
            <a:r>
              <a:rPr b="1" sz="1000">
                <a:solidFill>
                  <a:srgbClr val="172B4D"/>
                </a:solidFill>
              </a:rPr>
              <a:t>• Developed System Source Code: </a:t>
            </a:r>
            <a:r>
              <a:rPr sz="1000">
                <a:solidFill>
                  <a:srgbClr val="64748B"/>
                </a:solidFill>
              </a:rPr>
              <a:t>Complete Maven backend (Spring Boot 3.2) + frontend client with seed data.</a:t>
            </a:r>
          </a:p>
          <a:p>
            <a:pPr>
              <a:spcBef>
                <a:spcPts val="500"/>
              </a:spcBef>
            </a:pPr>
            <a:r>
              <a:rPr b="1" sz="1000">
                <a:solidFill>
                  <a:srgbClr val="172B4D"/>
                </a:solidFill>
              </a:rPr>
              <a:t>• StarUML Design Project (.mdj): </a:t>
            </a:r>
            <a:r>
              <a:rPr sz="1000">
                <a:solidFill>
                  <a:srgbClr val="64748B"/>
                </a:solidFill>
              </a:rPr>
              <a:t>All 5 required design diagrams: Use Case, Activity, Sequence, Class, and ER/EER.</a:t>
            </a:r>
          </a:p>
          <a:p>
            <a:pPr>
              <a:spcBef>
                <a:spcPts val="500"/>
              </a:spcBef>
            </a:pPr>
            <a:r>
              <a:rPr b="1" sz="1000">
                <a:solidFill>
                  <a:srgbClr val="172B4D"/>
                </a:solidFill>
              </a:rPr>
              <a:t>• 5-Slide Presentation Deck: </a:t>
            </a:r>
            <a:r>
              <a:rPr sz="1000">
                <a:solidFill>
                  <a:srgbClr val="64748B"/>
                </a:solidFill>
              </a:rPr>
              <a:t>Supplied in native PPTX, interactive HTML, and Markdown format.</a:t>
            </a:r>
          </a:p>
          <a:p>
            <a:pPr>
              <a:spcBef>
                <a:spcPts val="500"/>
              </a:spcBef>
            </a:pPr>
            <a:r>
              <a:rPr b="1" sz="1000">
                <a:solidFill>
                  <a:srgbClr val="172B4D"/>
                </a:solidFill>
              </a:rPr>
              <a:t>• Video Demonstration Script: </a:t>
            </a:r>
            <a:r>
              <a:rPr sz="1000">
                <a:solidFill>
                  <a:srgbClr val="64748B"/>
                </a:solidFill>
              </a:rPr>
              <a:t>14-stage timed walkthrough script covering all major features.</a:t>
            </a:r>
          </a:p>
          <a:p>
            <a:pPr>
              <a:spcBef>
                <a:spcPts val="500"/>
              </a:spcBef>
            </a:pPr>
            <a:r>
              <a:rPr b="1" sz="1000">
                <a:solidFill>
                  <a:srgbClr val="172B4D"/>
                </a:solidFill>
              </a:rPr>
              <a:t>• Test Verification Report: </a:t>
            </a:r>
            <a:r>
              <a:rPr sz="1000">
                <a:solidFill>
                  <a:srgbClr val="64748B"/>
                </a:solidFill>
              </a:rPr>
              <a:t>Detailed TC01–TC20 traceability matrix for Final Report Chapter 5.</a:t>
            </a:r>
          </a:p>
          <a:p>
            <a:pPr>
              <a:spcBef>
                <a:spcPts val="500"/>
              </a:spcBef>
            </a:pPr>
            <a:r>
              <a:rPr b="1" sz="1000">
                <a:solidFill>
                  <a:srgbClr val="172B4D"/>
                </a:solidFill>
              </a:rPr>
              <a:t>• Single Zipped Submission Folder: </a:t>
            </a:r>
            <a:r>
              <a:rPr sz="1000">
                <a:solidFill>
                  <a:srgbClr val="64748B"/>
                </a:solidFill>
              </a:rPr>
              <a:t>Packaged and ready for upload to the course submission portal.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